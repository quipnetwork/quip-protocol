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206240" cy="4206240"/>
          </a:xfrm>
          <a:prstGeom prst="ellipse">
            <a:avLst/>
          </a:prstGeom>
          <a:solidFill>
            <a:srgbClr val="065A82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737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RCS-VRF PROJECT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&amp; Certification Design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246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(v0.5 — math layer closed, physics framing corrected)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49377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Quip Network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Team  ·  June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737360"/>
            <a:ext cx="106070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60120" y="18745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8288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0" y="193852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3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761488"/>
            <a:ext cx="106070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2898648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828800" y="29443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Approaches Considered (AH → Liu)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0" y="2962656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7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785616"/>
            <a:ext cx="106070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3922776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828800" y="396849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Chain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0" y="3986784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11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809744"/>
            <a:ext cx="106070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60120" y="4946904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828800" y="499262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&amp; Open Items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0" y="501091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26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QUIP NETWORK  ·  RCS-VRF PROJECT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023360"/>
            <a:ext cx="3840480" cy="384048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·  Problem Statement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DECK SITS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 5 in the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RCS-VRF → a Quantum Proof-of-Useful-Work subnet that emits verifiable quantum randomness.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1371600" cy="512064"/>
          </a:xfrm>
          <a:prstGeom prst="roundRect">
            <a:avLst>
              <a:gd name="adj" fmla="val 8929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65960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0" y="1965960"/>
            <a:ext cx="8778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seed from public, bias-resistant sources (Mehdi's deck).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" y="2569464"/>
            <a:ext cx="1371600" cy="512064"/>
          </a:xfrm>
          <a:prstGeom prst="roundRect">
            <a:avLst>
              <a:gd name="adj" fmla="val 8929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569464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 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0" y="2569464"/>
            <a:ext cx="8778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Circuit-generation parameters precommitted before the seed is used.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31520" y="3172968"/>
            <a:ext cx="1371600" cy="512064"/>
          </a:xfrm>
          <a:prstGeom prst="roundRect">
            <a:avLst>
              <a:gd name="adj" fmla="val 8929"/>
            </a:avLst>
          </a:prstGeom>
          <a:solidFill>
            <a:srgbClr val="21295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172968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 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86000" y="3172968"/>
            <a:ext cx="8778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deterministically generates the RCS circuit family.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31520" y="3776472"/>
            <a:ext cx="1371600" cy="512064"/>
          </a:xfrm>
          <a:prstGeom prst="roundRect">
            <a:avLst>
              <a:gd name="adj" fmla="val 8929"/>
            </a:avLst>
          </a:prstGeom>
          <a:solidFill>
            <a:srgbClr val="21295C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776472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 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86000" y="3776472"/>
            <a:ext cx="8778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nodes produce samples + XEB evidence.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31520" y="4379976"/>
            <a:ext cx="1371600" cy="512064"/>
          </a:xfrm>
          <a:prstGeom prst="roundRect">
            <a:avLst>
              <a:gd name="adj" fmla="val 8929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379976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 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286000" y="4379976"/>
            <a:ext cx="8778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validators check timing, XEB threshold, and certify entropy.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31520" y="4983480"/>
            <a:ext cx="1371600" cy="512064"/>
          </a:xfrm>
          <a:prstGeom prst="roundRect">
            <a:avLst>
              <a:gd name="adj" fmla="val 8929"/>
            </a:avLst>
          </a:prstGeom>
          <a:solidFill>
            <a:srgbClr val="21295C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983480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 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286000" y="4983480"/>
            <a:ext cx="8778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Toeplitz / Trevisan extractor turns accepted samples into randomness.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31520" y="5586984"/>
            <a:ext cx="1371600" cy="512064"/>
          </a:xfrm>
          <a:prstGeom prst="roundRect">
            <a:avLst>
              <a:gd name="adj" fmla="val 8929"/>
            </a:avLst>
          </a:prstGeom>
          <a:solidFill>
            <a:srgbClr val="21295C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5586984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 7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286000" y="5586984"/>
            <a:ext cx="8778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Randomness anchored into a QPoUW block and served to consumers.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31520" y="62362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boundary: how accepted samples become certified randomness (Leg 5).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QUIP NETWORK  ·  RCS-VRF PROJECT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THE VERIFIER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Leg 5 Must 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verifier sits between the (untrusted) quantum server and the customer. Given a batch of M samples from M random circuits, it must: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347472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468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30175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plausibly came from genuine quantum sampling.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4840" y="2194560"/>
            <a:ext cx="347472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2468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Quantify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709160" y="30175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certified randomness is in the batch.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38160" y="2194560"/>
            <a:ext cx="347472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12480" y="2468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412480" y="30175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or abort. If accept, pass the entropy budget downstream.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448056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Leg 5, the protocol has no certification. </a:t>
            </a:r>
            <a:pPr indent="0" marL="0">
              <a:buNone/>
            </a:pPr>
            <a:r>
              <a:rPr lang="en-US" sz="14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turns “the server sent us some bits” into “these bits contain ℓ bits of provably-quantum randomness.”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QUIP NETWORK  ·  RCS-VRF PROJECT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 5 Requirements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106070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71907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Adversary-aware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206240" y="173736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even when the quantum server is dishonest.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505456"/>
            <a:ext cx="106070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267004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Quantifiable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206240" y="2688336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numerical bound on certified entropy, not just pass/fail.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456432"/>
            <a:ext cx="106070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5840" y="3621024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Classically verifiable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206240" y="3639312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verifier uses only a classical computer.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4407408"/>
            <a:ext cx="106070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5840" y="45720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Auditable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206240" y="4590288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third party can re-derive the bound from public audit-log inputs.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5358384"/>
            <a:ext cx="106070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05840" y="5522976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Timing-aware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206240" y="5541264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response deadline is part of the security argument, not a fairness rule.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QUIP NETWORK  ·  RCS-VRF PROJECT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023360"/>
            <a:ext cx="3840480" cy="384048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·  Approaches Considered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3657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Aaronson–Hung → Liu et al.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CIRCUIT, MANY SHOTS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A — Aaronson–Hung (2023) Structure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10607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7373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 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random circuit per round, MANY shots on that single circuit.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Verification:  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F_XEB averaged over the shots.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315468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structural challenge: shots within a round are correlated through the shared circuit — not independent. A cheater's amortized strategy (simulate the output distribution once, then sample many times) reduces per-shot cost relative to per-circuit cost.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31520" y="434340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AH bound handles this correctly</a:t>
            </a:r>
            <a:pPr indent="0" marL="0">
              <a:buNone/>
            </a:pPr>
            <a:r>
              <a:rPr lang="en-US" sz="14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via the Entropy Accumulation Theorem (EAT). The proof works — but EAT yields a looser certified-entropy bound for the same parameters than i.i.d. accumulation would.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5440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v0–v0.3a implemented this structure.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QUIP NETWORK  ·  RCS-VRF PROJECT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CIRCUITS, ONE SHOT EACH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B — Liu et al. (2025) Structure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10607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7373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 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different circuits (M = 30,010 in Liu), exactly ONE shot per circuit.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Verification:  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F_XEB averaged over an audit subset (m of M).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31546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pPr indent="0" marL="0">
              <a:buNone/>
            </a:pPr>
            <a:r>
              <a:rPr lang="en-US" sz="14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shot per distinct circuit makes the rounds independent — no within-round correlation to handle. Each round is a fresh, unrelated experiment.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enables a cleaner security argument via standard i.i.d. concentration bounds (no EAT machinery) and yields a tighter certified-entropy bound for the same parameters.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5303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switched to this structure in v0.4.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QUIP NETWORK  ·  RCS-VRF PROJECT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Switched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54480"/>
          <a:ext cx="106070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840480"/>
                <a:gridCol w="384048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 structure (v0–v0.3a)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Liu structure (v0.4 →)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Circuits per round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 distinct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Shots per circuit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exactly 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Within-round structure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correlated shots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 rounds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argument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EAT (handles correlation)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i.i.d. concentration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 tightness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looser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tighter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31520" y="4846320"/>
            <a:ext cx="10607040" cy="1234440"/>
          </a:xfrm>
          <a:prstGeom prst="roundRect">
            <a:avLst>
              <a:gd name="adj" fmla="val 4444"/>
            </a:avLst>
          </a:prstGeom>
          <a:solidFill>
            <a:srgbClr val="EAF6F1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960120" y="5029200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precision: </a:t>
            </a:r>
            <a:pPr indent="0" marL="0">
              <a:buNone/>
            </a:pPr>
            <a:r>
              <a:rPr lang="en-US" sz="13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AH bound is correct, not broken. The switch is a structural choice for a tighter bound and simpler proof. Under Liu, Q_min is a number of distinct quantum circuits that had to be honest — not a number of shots.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QUIP NETWORK  ·  RCS-VRF PROJECT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023360"/>
            <a:ext cx="3840480" cy="384048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·  Verification Chain</a:t>
            </a:r>
            <a:endParaRPr lang="en-US" sz="3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IDEAL REFERENCE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Haar-Random Circuits — Where the Randomness Lives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Haar measure = the unique uniform distribution over unitary matrices. A Haar-random U on n qubits is drawn uniformly from U(2ⁿ); the output U|0⟩ is a uniformly random pure state.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1060704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423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for certification — a Haar-random unitary destroys all structure: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2834640"/>
            <a:ext cx="9875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subset of bitstrings is preferentially favored ex ante.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classical shortcut can exploit special symmetries.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statistics are universal and analytically tractable.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4206240"/>
            <a:ext cx="10607040" cy="1417320"/>
          </a:xfrm>
          <a:prstGeom prst="roundRect">
            <a:avLst>
              <a:gd name="adj" fmla="val 3871"/>
            </a:avLst>
          </a:prstGeom>
          <a:solidFill>
            <a:srgbClr val="FBF3E0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4434840"/>
            <a:ext cx="10149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catch:  </a:t>
            </a:r>
            <a:pPr indent="0" marL="0">
              <a:buNone/>
            </a:pPr>
            <a:r>
              <a:rPr lang="en-US" sz="14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truly Haar-random unitary needs exponentially many gates — infeasible to build exactly. We need an approximation that reproduces the statistics we actually use.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QUIP NETWORK  ·  RCS-VRF PROJECT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ENGINEERING BRIDGE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RCS — Deep-Enough Circuits Give Porter–Thomas Output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607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 exact Haar-random unitary needs exponentially many gates — infeasible.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RCS alternates layers of random single-qubit SU(2) gates and entangling two-qubit gates.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enough layers, each circuit's output distribution converges to Porter–Thomas — the property F_XEB and collision entropy rely 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3337560"/>
            <a:ext cx="10607040" cy="2377440"/>
          </a:xfrm>
          <a:prstGeom prst="roundRect">
            <a:avLst>
              <a:gd name="adj" fmla="val 2308"/>
            </a:avLst>
          </a:prstGeom>
          <a:solidFill>
            <a:srgbClr val="EAF1F8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349300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 (important):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3886200"/>
            <a:ext cx="10149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8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— and what is verified — is that each circuit's </a:t>
            </a:r>
            <a:pPr indent="0" marL="0">
              <a:lnSpc>
                <a:spcPct val="112000"/>
              </a:lnSpc>
              <a:buNone/>
            </a:pPr>
            <a:r>
              <a:rPr lang="en-US" sz="138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statistics</a:t>
            </a:r>
            <a:pPr indent="0" marL="0">
              <a:lnSpc>
                <a:spcPct val="112000"/>
              </a:lnSpc>
              <a:buNone/>
            </a:pPr>
            <a:r>
              <a:rPr lang="en-US" sz="138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match Porter–Thomas: a </a:t>
            </a:r>
            <a:pPr indent="0" marL="0">
              <a:lnSpc>
                <a:spcPct val="112000"/>
              </a:lnSpc>
              <a:buNone/>
            </a:pPr>
            <a:r>
              <a:rPr lang="en-US" sz="138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single-circuit output property.</a:t>
            </a:r>
            <a:pPr indent="0" marL="0">
              <a:lnSpc>
                <a:spcPct val="112000"/>
              </a:lnSpc>
              <a:buNone/>
            </a:pPr>
            <a:r>
              <a:rPr lang="en-US" sz="138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 do NOT claim the ensemble is an approximate t-design or 2-design. Liu's paper never uses “t-design”; it justifies Porter–Thomas </a:t>
            </a:r>
            <a:pPr indent="0" marL="0">
              <a:lnSpc>
                <a:spcPct val="112000"/>
              </a:lnSpc>
              <a:buNone/>
            </a:pPr>
            <a:r>
              <a:rPr lang="en-US" sz="138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numerically</a:t>
            </a:r>
            <a:pPr indent="0" marL="0">
              <a:lnSpc>
                <a:spcPct val="112000"/>
              </a:lnSpc>
              <a:buNone/>
            </a:pPr>
            <a:r>
              <a:rPr lang="en-US" sz="138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(Fig. S3: TVD and Shannon-entropy convergence), not via a design theorem. Our own (n,d) sweep confirms depth-10 shows PT output statistics but is </a:t>
            </a:r>
            <a:pPr indent="0" marL="0">
              <a:lnSpc>
                <a:spcPct val="112000"/>
              </a:lnSpc>
              <a:buNone/>
            </a:pPr>
            <a:r>
              <a:rPr lang="en-US" sz="138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pPr indent="0" marL="0">
              <a:lnSpc>
                <a:spcPct val="112000"/>
              </a:lnSpc>
              <a:buNone/>
            </a:pPr>
            <a:r>
              <a:rPr lang="en-US" sz="138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2-design. The implication is one-directional: Haar ⇒ Porter–Thomas, never the reverse.</a:t>
            </a:r>
            <a:endParaRPr lang="en-US" sz="138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QUIP NETWORK  ·  RCS-VRF PROJECT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 2 + LEG 3, DETERMINISTIC FROM THE SEED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Circuits Are Actually Constructed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  →(PRF)→  byte stream  →construction→  { C₁, C₂, …, Cₘ }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Per-circuit recipe (Liu's setup, depth 10):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52120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4231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Single-qubit layer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2834640"/>
            <a:ext cx="47548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random </a:t>
            </a:r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SU(2)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gate for each of the n qubits, from a </a:t>
            </a:r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discretization of the continuous SU(2) group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Not Cliffords — a Clifford-only circuit is classically efficiently simulable (Gottesman–Knill) and would have </a:t>
            </a:r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classical hardness.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2286000"/>
            <a:ext cx="52120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55080" y="24231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Two-qubit layer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55080" y="2834640"/>
            <a:ext cx="47548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native two-qubit gate U_ZZ(π/2) across a </a:t>
            </a:r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edge-colored d-regular topology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same pairing pattern for every circuit. </a:t>
            </a:r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single-qubit gates are randomized;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topology is chosen once.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572000"/>
            <a:ext cx="10607040" cy="1143000"/>
          </a:xfrm>
          <a:prstGeom prst="roundRect">
            <a:avLst>
              <a:gd name="adj" fmla="val 4800"/>
            </a:avLst>
          </a:prstGeom>
          <a:solidFill>
            <a:srgbClr val="EAF1F8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60120" y="4736592"/>
            <a:ext cx="10149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budget ~1 KB / circuit at n=56, depth 10; M=30,010 → ~30 MB per round (why Leg 2 needs crypto expansion of the small Leg 1 seed). </a:t>
            </a:r>
            <a:pPr indent="0" marL="0">
              <a:buNone/>
            </a:pPr>
            <a:r>
              <a:rPr lang="en-US" sz="128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seed randomizes single-qubit gates over a fixed hard topology; together these give Porter–Thomas output statistics — what F_XEB consumes.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QUIP NETWORK  ·  RCS-VRF PROJECT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Porter–Thomas Distribution — the Physics Payoff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Claim:  </a:t>
            </a:r>
            <a:pPr indent="0" marL="0">
              <a:buNone/>
            </a:pPr>
            <a:r>
              <a:rPr lang="en-US" sz="14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sufficiently deep RCS n-qubit circuit, the output probabilities p(x) = |⟨x|U|0⟩|² satisfy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3108960" y="1874520"/>
            <a:ext cx="5943600" cy="68580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3108960" y="187452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Pr[ N·p(x) ∈ [s, s+ds] ] = e⁻ˢ ds,    N = 2ⁿ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rescaled probabilities are exponentially distributed (Porter &amp; Thomas, 1956).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1520" y="3246120"/>
            <a:ext cx="10607040" cy="91440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3401568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quantity — the second moment under Porter–Thomas:   </a:t>
            </a:r>
            <a:pPr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E[(N·p)²] = 2</a:t>
            </a:r>
            <a:pPr indent="0" marL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⇒ per-probability  E[p²] = 2/N²,  collision sum  ∑ₓ p² = 2/N.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29768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an exact, universal value for the per-round collision entropy (next: n−1).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for any circuit whose output distribution is Porter–Thomas.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checkable from samples — F_XEB statistically tests this property.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57150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vs draft: the per-probability 2nd moment is 2/N² and ∑p² = 2/N; and “any PT-output circuit,” not “every 2-design.”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QUIP NETWORK  ·  RCS-VRF PROJECT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“Certified Min-Entropy”?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Min-entropy measures guaranteed unpredictability (in bits):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383280" y="1783080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3383280" y="178308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H_min(X) = − log₂ ( maxₓ Pr[X = x] 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10607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788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“Certified” adds two requirements: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315468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 holds against a worst-case adversary in our model — not just on average over random inputs.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 is provable from public evidence (the audit log), not merely asserted by the server.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" y="4206240"/>
            <a:ext cx="10607040" cy="1417320"/>
          </a:xfrm>
          <a:prstGeom prst="roundRect">
            <a:avLst>
              <a:gd name="adj" fmla="val 3871"/>
            </a:avLst>
          </a:prstGeom>
          <a:solidFill>
            <a:srgbClr val="EAF1F8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438912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Concretely:  </a:t>
            </a:r>
            <a:pPr indent="0" marL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H_min^cert = X bits means even the most capable adversary in our threat model, looking at all public protocol data, cannot guess the raw output with probability greater than 2⁻ˣ. This is the input budget passed to Leg 6, which extracts ℓ ≤ X near-uniform bits.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QUIP NETWORK  ·  RCS-VRF PROJECT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Chain at a Glance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828800" y="1554480"/>
            <a:ext cx="85039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103120" y="1664208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quantum samples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103120" y="20116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760720" y="23225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</a:rPr>
              <a:t>↓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828800" y="2468880"/>
            <a:ext cx="85039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03120" y="2578608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F_XEB on audit subset  +  timing check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103120" y="29260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760720" y="32369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</a:rPr>
              <a:t>↓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828800" y="3383280"/>
            <a:ext cx="85039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103120" y="3493008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adversary model (Lemma 2)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103120" y="38404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Q_min — minimum forced-quantum rounds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760720" y="41513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</a:rPr>
              <a:t>↓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828800" y="4297680"/>
            <a:ext cx="8503920" cy="841248"/>
          </a:xfrm>
          <a:prstGeom prst="roundRect">
            <a:avLst>
              <a:gd name="adj" fmla="val 6522"/>
            </a:avLst>
          </a:prstGeom>
          <a:solidFill>
            <a:srgbClr val="EAF6F1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103120" y="4407408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(n−1) collision entropy,  − log₂(1/εₛ) smoothing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103120" y="47548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H_min^cert — certified bits to Leg 6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1520" y="56692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arrow is one specific formula. The next slides walk each link.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QUIP NETWORK  ·  RCS-VRF PROJECT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31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STATISTICAL OBSERVATION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— F_XEB Computation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 audit subset of m circuits, the verifier classically simulates each and computes: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3657600" y="1828800"/>
            <a:ext cx="4846320" cy="68580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0" y="182880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F_XEB = (N/m) · ∑ᵢ p_Ci(xᵢ)  −  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834640"/>
            <a:ext cx="2578608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3108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F_XEB ≈ 0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657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/ blind spoof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29000" y="2834640"/>
            <a:ext cx="2578608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66160" y="3108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F_XEB ≈ ϕ   (fidelity, 0–1)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66160" y="3657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noisy quantum machine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0" y="2834640"/>
            <a:ext cx="2578608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63640" y="3108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7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F_XEB = 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63640" y="3657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quantum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823960" y="2834640"/>
            <a:ext cx="2578608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61120" y="3108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23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F_XEB ≫ 1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961120" y="3657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Cherry-picking spoof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31520" y="48006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et al.'s acceptance threshold:  </a:t>
            </a:r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 = 0.3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QUIP NETWORK  ·  RCS-VRF PROJECT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31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DELIBERATE DEVIATION FROM LIU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— Acceptance Check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52120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691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Liu — one-sided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2103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 iff  F_XEB ≥ χ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51460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compute-rational adversary won't score ≫ 1 (that needs more honest quantum work, not less), so no upper bound is required.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26480" y="1554480"/>
            <a:ext cx="5212080" cy="1828800"/>
          </a:xfrm>
          <a:prstGeom prst="roundRect">
            <a:avLst>
              <a:gd name="adj" fmla="val 3000"/>
            </a:avLst>
          </a:prstGeom>
          <a:solidFill>
            <a:srgbClr val="EAF1F8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55080" y="1691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Ours (v0.1+) — two-sided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55080" y="2103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χ_low  ≤  F_XEB  ≤  χ_high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55080" y="251460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Strictly more conservative than Liu requires. Catches a different threat class.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05840" y="361188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Wasteful or non-rational adversaries.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heavy-output-generation attacks.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Adversaries who circumvent the compute-budget assumption.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50292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Defence-in-depth choice. </a:t>
            </a:r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lower bound is load-bearing; the upper bound is our addition.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QUIP NETWORK  ·  RCS-VRF PROJECT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31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— Timing (the Second Half of the Proof)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F_XEB alone proves correctness, not quantum origin. A patient classical attacker with unbounded time could simulate every circuit, score perfectly, and pass.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1060704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331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response deadline closes the classical-faking route: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2697480"/>
            <a:ext cx="9966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quantum machine clears the deadline naturally (~2.2 s response in Liu).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classical verification of one n=56 circuit costs ~100 s on a full exascale machine (Frontier); minutes per circuit on smaller verifiers — far beyond any seconds-long deadline.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743200" y="3977640"/>
            <a:ext cx="6675120" cy="640080"/>
          </a:xfrm>
          <a:prstGeom prst="roundRect">
            <a:avLst>
              <a:gd name="adj" fmla="val 8571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0" y="397764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F_XEB ✓  +  timing ✓  =  proof of quantumness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846320"/>
            <a:ext cx="10607040" cy="960120"/>
          </a:xfrm>
          <a:prstGeom prst="roundRect">
            <a:avLst>
              <a:gd name="adj" fmla="val 5714"/>
            </a:avLst>
          </a:prstGeom>
          <a:solidFill>
            <a:srgbClr val="FBF3E0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5010912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</a:t>
            </a:r>
            <a:pPr indent="0" marL="0">
              <a:buNone/>
            </a:pPr>
            <a:r>
              <a:rPr lang="en-US" sz="13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currently stubbed — recorded but not enforced. The math chain assumes enforcement; engineering is owed (see Open Item 2).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QUIP NETWORK  ·  RCS-VRF PROJECT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 — The Adversary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Liu's “restricted realistic near-term adversary” is given: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Perfect-fidelity quantum hardware (best-case quantum capability).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compute  A = 4× Frontier  (the threat model for the headline result; stated consistently with Slide 27).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Best-known classical attacks on F_XEB.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per-circuit deadline as the honest server.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10607040" cy="868680"/>
          </a:xfrm>
          <a:prstGeom prst="roundRect">
            <a:avLst>
              <a:gd name="adj" fmla="val 6316"/>
            </a:avLst>
          </a:prstGeom>
          <a:solidFill>
            <a:srgbClr val="EAF1F8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384048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the deadline, the adversary's classical faking budget is at most   </a:t>
            </a:r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Φ_A ≈ A·t_threshold / B</a:t>
            </a:r>
            <a:pPr indent="0" marL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where B is the cost of computing one circuit's F_XEB contribution.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4709160"/>
            <a:ext cx="10607040" cy="1005840"/>
          </a:xfrm>
          <a:prstGeom prst="roundRect">
            <a:avLst>
              <a:gd name="adj" fmla="val 5455"/>
            </a:avLst>
          </a:prstGeom>
          <a:solidFill>
            <a:srgbClr val="FBEEE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4873752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vs draft: </a:t>
            </a:r>
            <a:pPr indent="0" marL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is the adversary, not the verifier. The earlier “1.1×10¹⁸ FLOPS” is the verifier's combined Frontier+Summit throughput — not A. The adversary is a multiple of Frontier; reconcile to a single value on Slide 27.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QUIP NETWORK  ·  RCS-VRF PROJECT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5 — Q_min Derivation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017520" y="1417320"/>
            <a:ext cx="6126480" cy="640080"/>
          </a:xfrm>
          <a:prstGeom prst="roundRect">
            <a:avLst>
              <a:gd name="adj" fmla="val 8571"/>
            </a:avLst>
          </a:prstGeom>
          <a:solidFill>
            <a:srgbClr val="21295C"/>
          </a:solidFill>
          <a:ln/>
        </p:spPr>
      </p:sp>
      <p:sp>
        <p:nvSpPr>
          <p:cNvPr id="4" name="Text 2"/>
          <p:cNvSpPr/>
          <p:nvPr/>
        </p:nvSpPr>
        <p:spPr>
          <a:xfrm>
            <a:off x="3017520" y="1417320"/>
            <a:ext cx="6126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Q_min = min { Q : ε_adv(Q, χ) ≥ ε_sou }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smallest number of honest quantum rounds at which the adversary's probability of passing F_XEB ≥ χ still exceeds the soundness threshold ε_sou.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14400" y="297180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via a hypergeometric-tail bound with closed-form Chernoff δ.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F_XEB (a statistical observation) and certified min-entropy (a cryptographic guarantee).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number as the adversary's threshold and our certification's floor.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4526280"/>
            <a:ext cx="10607040" cy="1188720"/>
          </a:xfrm>
          <a:prstGeom prst="roundRect">
            <a:avLst>
              <a:gd name="adj" fmla="val 4615"/>
            </a:avLst>
          </a:prstGeom>
          <a:solidFill>
            <a:srgbClr val="EAF6F1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480060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Liu's paper parameters:   </a:t>
            </a:r>
            <a:pPr indent="0" marL="0">
              <a:buNone/>
            </a:pPr>
            <a:r>
              <a:rPr lang="en-US" sz="1450" b="1" dirty="0">
                <a:solidFill>
                  <a:srgbClr val="2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Q_min = 1297</a:t>
            </a:r>
            <a:pPr indent="0" marL="0">
              <a:buNone/>
            </a:pPr>
            <a:r>
              <a:rPr lang="en-US" sz="14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(out of M = 30,010).  Reproduced exactly by our calibrated implementation (leg5_qmin_liu.py).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QUIP NETWORK  ·  RCS-VRF PROJECT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6 — Per-Round Entropy: n − 1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collision (2-Rényi) entropy of the Porter–Thomas distribution: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377440" y="1828800"/>
            <a:ext cx="7406640" cy="731520"/>
          </a:xfrm>
          <a:prstGeom prst="roundRect">
            <a:avLst>
              <a:gd name="adj" fmla="val 7500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2377440" y="1828800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H₂ = −log₂(∑ₓ p(x)²) = −log₂(2/N) = log₂ N − 1 = n − 1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023360" y="28346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4023360" y="283464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= 56  →  55 bits / round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93192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first principles via the Porter–Thomas second moment.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convention freedom — forced by the distribution.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across Liu, Aaronson–Hung, and any RCS-based certified-randomness protocol.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53949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most cleanly nailed-down piece of the chain.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QUIP NETWORK  ·  RCS-VRF PROJECT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31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THEOREM 1 / SM THEOREM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7 — Certified Min-Entropy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0" y="1463040"/>
            <a:ext cx="6675120" cy="731520"/>
          </a:xfrm>
          <a:prstGeom prst="roundRect">
            <a:avLst>
              <a:gd name="adj" fmla="val 7500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0" y="146304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H_min^cert = Q_min·(n−1) − log₂(1/εₛ)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514600"/>
            <a:ext cx="10607040" cy="1371600"/>
          </a:xfrm>
          <a:prstGeom prst="roundRect">
            <a:avLst>
              <a:gd name="adj" fmla="val 4000"/>
            </a:avLst>
          </a:prstGeom>
          <a:solidFill>
            <a:srgbClr val="EAF6F1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6974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Liu's parameters  (Q_min = 1297, n = 56, ε_sou = 10⁻⁶, εₛ = ε_sou/4):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60120" y="32004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7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H_min^cert = 1297·55 − log₂(1/2.5×10⁻⁷) = 71,335 − 21.93 ≈  71,313 bits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41148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entropy budget passed to Leg 6 (Toeplitz extraction).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4663440"/>
            <a:ext cx="10607040" cy="1051560"/>
          </a:xfrm>
          <a:prstGeom prst="roundRect">
            <a:avLst>
              <a:gd name="adj" fmla="val 5217"/>
            </a:avLst>
          </a:prstGeom>
          <a:solidFill>
            <a:srgbClr val="FBEEE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4828032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correction vs draft: </a:t>
            </a:r>
            <a:pPr indent="0" marL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certified-entropy statement is Liu Theorem 1 (main text) / SM Theorem 3 — NOT Corollary 7. Corollary 7 is the extraction bound (Slide 25). Reproduced exactly by our verification harness against Liu's data.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QUIP NETWORK  ·  RCS-VRF PROJECT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31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COROLLARY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8 — Toeplitz / LHL Extraction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468880" y="1417320"/>
            <a:ext cx="7223760" cy="68580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2468880" y="1417320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ℓ ≤ Q_min·(n−1) − 3·log₂(1/ε_sou) − 2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separate step: certified min-entropy lives inside the raw samples, but the samples aren't uniform — they carry circuit structure. The Leftover Hash Lemma guarantees that hashing a high-min-entropy source through a 2-universal hash (a Toeplitz matrix) yields output statistically close to uniform.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429000"/>
            <a:ext cx="10607040" cy="960120"/>
          </a:xfrm>
          <a:prstGeom prst="roundRect">
            <a:avLst>
              <a:gd name="adj" fmla="val 5714"/>
            </a:avLst>
          </a:prstGeom>
          <a:solidFill>
            <a:srgbClr val="EAF6F1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361188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7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ℓ = 1297·55 − 3·log₂(10⁶) − 2 = 71,335 − 59.79 − 2  ≈  71,273 bits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45720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overhead: </a:t>
            </a:r>
            <a:pPr indent="0" marL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 bits lost vs certified min-entropy — the cost of going from “entropy exists somewhere” to “uniformly random bits.”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51663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deliverable: uniformly distributed bits, ε_sou-close to uniform, conditionally independent of adversary side-information.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QUIP NETWORK  ·  RCS-VRF PROJECT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31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023360"/>
            <a:ext cx="3840480" cy="384048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·  Status &amp; Open Items</a:t>
            </a:r>
            <a:endParaRPr lang="en-US" sz="3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RECONCILED AGAINST LIU'S ZENODO NOTEBOOK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Closed Item 1 — Q_min Calibration (v0.4.1)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607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Adversary parameters from Table2-bounds-on-extractable-entropy.ipynb:  eff = 0.5,  A = 4 × Frontier.  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i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A to ONE stated value across the deck: Frontier sustained ≈ 0.897×10¹⁸ → 4× ≈ 3.6×10¹⁸; theoretical-peak ≈ 2×10¹⁸ → 4× ≈ 8×10¹⁸. Use whichever value the calibrated code reproduces Q_min with, on both this slide and Slide 21.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Closed-form Chernoff δ replaces the numerical grid.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Half-budget threshold split: ε_sou/2 on each tail.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1520" y="3703320"/>
            <a:ext cx="10607040" cy="1965960"/>
          </a:xfrm>
          <a:prstGeom prst="roundRect">
            <a:avLst>
              <a:gd name="adj" fmla="val 2791"/>
            </a:avLst>
          </a:prstGeom>
          <a:solidFill>
            <a:srgbClr val="EAF6F1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3886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module: leg5_qmin_liu.py — reproduces Liu exactly: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4297680"/>
            <a:ext cx="9875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2C7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Q_min = 1297   (paper: 1297)  ✓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2C7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H_min^cert = 71,313 bits   (paper: 71,313)  ✓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C7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Extractable ℓ = 71,273 bits   (paper: 71,273)  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54406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xfail retired. Regression test test_qmin_calibrated.py: 5 passing tests.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QUIP NETWORK  ·  RCS-VRF PROJECT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31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Triple-Verified — Three Independent Test Paths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106070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·  Algorithm correctness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669280" y="17099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test_qmin_calibrated.py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05840" y="21031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regression tests: exact paper reproduction, protocol breakdown at strong adversary, monotonicity in soundness and adversary compute.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971800"/>
            <a:ext cx="106070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3108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·  Real-data correctness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0" y="31272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verify_against_liu_data.py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05840" y="352044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chain on Liu's aggregated_probs.npy (1,522 precomputed probabilities, Quantinuum H2-1). Reproduces F_XEB = 0.32, Q_min = 1297, H = 71,313, ℓ = 71,273 — all to the digit.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4389120"/>
            <a:ext cx="106070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05840" y="4526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·  Formula correctness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669280" y="454456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test_fxeb_limiting_cases.py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05840" y="493776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limiting-case tests: perfect quantum (ϕ=1), pure noise (ϕ=0), mixed fidelity, size-biasing isolation, worst-case argmax adversary, single-shot structure, LLN concentration.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58978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 angles — most failure modes are caught by at least two paths.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QUIP NETWORK  ·  RCS-VRF PROJECT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31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ENGINEERING STUB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Item 2 — Timing Enforcement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5212080" cy="1371600"/>
          </a:xfrm>
          <a:prstGeom prst="roundRect">
            <a:avLst>
              <a:gd name="adj" fmla="val 4000"/>
            </a:avLst>
          </a:prstGeom>
          <a:solidFill>
            <a:srgbClr val="FBF3E0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210312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 are recorded in the audit log.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deadline is enforced in code.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1554480"/>
            <a:ext cx="5212080" cy="1371600"/>
          </a:xfrm>
          <a:prstGeom prst="roundRect">
            <a:avLst>
              <a:gd name="adj" fmla="val 4000"/>
            </a:avLst>
          </a:prstGeom>
          <a:solidFill>
            <a:srgbClr val="FBEEE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5508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55080" y="210312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proof of quantumness rests on the response deadline. Without enforcement, a patient classical attacker could still pass.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directions: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361188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Hash-graph propagation as a timing oracle (flagged in Mehdi's Leg 1 deck).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time anchor via drand pulse ordering.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timestamping with the audit-log hash chain.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5212080"/>
            <a:ext cx="10607040" cy="640080"/>
          </a:xfrm>
          <a:prstGeom prst="roundRect">
            <a:avLst>
              <a:gd name="adj" fmla="val 8571"/>
            </a:avLst>
          </a:prstGeom>
          <a:solidFill>
            <a:srgbClr val="EAF1F8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60120" y="5330952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design TBD with Mehdi.  This is the one chain link the math assumes but code does not yet enforce.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QUIP NETWORK  ·  RCS-VRF PROJECT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31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3657600" cy="365760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layer closed (v0.5); physics framing corrected.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10058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 5 implements Liu et al.'s certification chain faithfully.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Per-round collision entropy n−1 is exact, derived from Porter–Thomas.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switched to Liu (many circuits, one shot each) in v0.4.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Q_min calibration reproduces Liu's 1297 and all downstream numbers exactly.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Triple-verified via algorithm, real-data, and formula test paths.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4526280"/>
            <a:ext cx="10607040" cy="1463040"/>
          </a:xfrm>
          <a:prstGeom prst="roundRect">
            <a:avLst>
              <a:gd name="adj" fmla="val 3750"/>
            </a:avLst>
          </a:prstGeom>
          <a:solidFill>
            <a:srgbClr val="0E1A40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4663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Corrections folded into v0.5: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502920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SU(2) gates over a fixed edge-colored topology (not Cliffords / random matchings).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Porter–Thomas stated as a single-circuit output property — not a t-design / 2-design claim.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Adversary A = multiple of Frontier (reconciled); certified-entropy cites Theorem 1, not Cor 7.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61722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deviation from Liu: two-sided F_XEB check (defence-in-depth, strictly more conservative).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3840480" cy="384048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749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Quip Network  ·  RCS-VRF Project  ·  Leg 5  ·  v0.5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RCS-VRF Verification &amp; Certification Design v0.5</dc:title>
  <dc:subject>PptxGenJS Presentation</dc:subject>
  <dc:creator>Quip Network Research Team</dc:creator>
  <cp:lastModifiedBy>Quip Network Research Team</cp:lastModifiedBy>
  <cp:revision>1</cp:revision>
  <dcterms:created xsi:type="dcterms:W3CDTF">2026-06-20T16:13:34Z</dcterms:created>
  <dcterms:modified xsi:type="dcterms:W3CDTF">2026-06-20T16:13:34Z</dcterms:modified>
</cp:coreProperties>
</file>